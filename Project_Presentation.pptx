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Play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8728D-DE20-414C-8D73-4AFBBA54FEEC}">
  <a:tblStyle styleId="{9368728D-DE20-414C-8D73-4AFBBA54FE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617D166-0AD6-4EC1-8366-8101AFC457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Play-bold.fntdata"/><Relationship Id="rId63" Type="http://schemas.openxmlformats.org/officeDocument/2006/relationships/font" Target="fonts/Play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27d614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27d614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27d614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27d614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e27d614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e27d614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e27d614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e27d614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e27d614e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e27d614e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e27d614e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e27d614e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e27d614e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e27d614e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e27d614e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e27d614e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27d614e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e27d614e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e27d614e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e27d614e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e27d614e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e27d614e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e27d614e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e27d614e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e27d614e8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e27d614e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e27d614e8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e27d614e8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e27d614e8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e27d614e8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e27d614e8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e27d614e8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e27d614e8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e27d614e8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e27d614e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e27d614e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Να πω πως επιλέγει το μεγαλύτερο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e27d614e8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e27d614e8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e27d614e8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e27d614e8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Να πω τα προβλήματα ότι 15-&gt;5, έπρεπε να υπολογίζω πόσους αθροιστές χρειάζεται, επίσης να τρέχει παράλληλα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e27d614e8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e27d614e8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e27d614e8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e27d614e8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27d614e8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e27d614e8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e27d614e8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e27d614e8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e27d614e8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e27d614e8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e27d614e8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e27d614e8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e27d614e8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e27d614e8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e27d614e8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e27d614e8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e27d614e8_1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e27d614e8_1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e27d614e8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6e27d614e8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e27d614e8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e27d614e8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e27d614e8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e27d614e8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e27d614e8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e27d614e8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e27d614e8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6e27d614e8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e27d614e8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e27d614e8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e27d614e8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e27d614e8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e27d614e8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e27d614e8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e27d614e8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e27d614e8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e27d614e8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e27d614e8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e27d614e8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6e27d614e8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e27d614e8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6e27d614e8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27d614e8_1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e27d614e8_1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e27d614e8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6e27d614e8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e27d614e8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6e27d614e8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e27d614e8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e27d614e8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e27d614e8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e27d614e8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e27d614e8_1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e27d614e8_1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e27d614e8_1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e27d614e8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e27d614e8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e27d614e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e27d614e8_1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e27d614e8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e27d614e8_1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e27d614e8_1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e27d614e8_1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e27d614e8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e27d614e8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6e27d614e8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e27d614e8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e27d614e8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e27d614e8_1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e27d614e8_1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0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1.gif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Εργασία VLSI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l" sz="7500">
                <a:solidFill>
                  <a:srgbClr val="404040"/>
                </a:solidFill>
                <a:latin typeface="Play"/>
                <a:ea typeface="Play"/>
                <a:cs typeface="Play"/>
                <a:sym typeface="Play"/>
              </a:rPr>
              <a:t>Ομάδα 10</a:t>
            </a:r>
            <a:endParaRPr sz="7500">
              <a:solidFill>
                <a:srgbClr val="40404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l" sz="7500">
                <a:solidFill>
                  <a:srgbClr val="404040"/>
                </a:solidFill>
                <a:latin typeface="Play"/>
                <a:ea typeface="Play"/>
                <a:cs typeface="Play"/>
                <a:sym typeface="Play"/>
              </a:rPr>
              <a:t>Δημοσθένης Καραμπάρπας 1089862</a:t>
            </a:r>
            <a:endParaRPr sz="7500">
              <a:solidFill>
                <a:srgbClr val="40404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l" sz="7500">
                <a:solidFill>
                  <a:srgbClr val="404040"/>
                </a:solidFill>
                <a:latin typeface="Play"/>
                <a:ea typeface="Play"/>
                <a:cs typeface="Play"/>
                <a:sym typeface="Play"/>
              </a:rPr>
              <a:t>Γρηγόριος Ρισβάς 1092774</a:t>
            </a:r>
            <a:endParaRPr sz="7500">
              <a:solidFill>
                <a:srgbClr val="40404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3300">
                <a:solidFill>
                  <a:schemeClr val="dk2"/>
                </a:solidFill>
              </a:rPr>
              <a:t>Περιεχόμενα</a:t>
            </a:r>
            <a:endParaRPr b="1" sz="43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Τμήμα 1: </a:t>
            </a:r>
            <a:r>
              <a:rPr lang="el" sz="1500">
                <a:solidFill>
                  <a:schemeClr val="dk1"/>
                </a:solidFill>
              </a:rPr>
              <a:t>Θεωρία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500">
                <a:solidFill>
                  <a:schemeClr val="dk1"/>
                </a:solidFill>
              </a:rPr>
              <a:t>Τμήμα 2: Κώδικες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Απλός Υπολογισμός Υπολοίπου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Διαίρεση</a:t>
            </a:r>
            <a:r>
              <a:rPr b="1" lang="el"/>
              <a:t>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Αφαίρεση και Πρόσθεση </a:t>
            </a:r>
            <a:r>
              <a:rPr b="1" lang="el"/>
              <a:t>✔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Σύγκριση </a:t>
            </a:r>
            <a:r>
              <a:rPr b="1" lang="el"/>
              <a:t>✔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Για </a:t>
            </a:r>
            <a:r>
              <a:rPr b="1" lang="el"/>
              <a:t>12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     12 - 5 = 7, 7 - 5 =</a:t>
            </a:r>
            <a:r>
              <a:rPr b="1" lang="el"/>
              <a:t> 2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572000" y="2873275"/>
            <a:ext cx="3840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Για </a:t>
            </a:r>
            <a:r>
              <a:rPr b="1" lang="el" sz="1800">
                <a:solidFill>
                  <a:schemeClr val="dk2"/>
                </a:solidFill>
              </a:rPr>
              <a:t>-12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616100" y="3260725"/>
            <a:ext cx="3795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800">
                <a:solidFill>
                  <a:schemeClr val="dk2"/>
                </a:solidFill>
              </a:rPr>
              <a:t>-12 + 5 = -7, -7 + 5 = -2, -2 + 5 = </a:t>
            </a:r>
            <a:r>
              <a:rPr b="1" lang="el" sz="1800">
                <a:solidFill>
                  <a:schemeClr val="dk2"/>
                </a:solidFill>
              </a:rPr>
              <a:t>3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Θεωρία Τμηματοποίησης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l" sz="2300"/>
              <a:t>Α = 11110000 = 1111 * 2^4 + 0000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l" sz="2300"/>
              <a:t>AmodX = (1111 * 2^4 modX + 0000modX)modX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2000"/>
              <a:t>Για</a:t>
            </a:r>
            <a:r>
              <a:rPr lang="el" sz="2000"/>
              <a:t> 2^4 modX = 1 τότε κάθε κομμάτι ξεχωριστά.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2000"/>
              <a:t>Αν γίνεται με μοτίβο ανά 4 bits τότε ένας 32 bit αριθμός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 sz="2500"/>
              <a:t>1111|0000|</a:t>
            </a:r>
            <a:r>
              <a:rPr b="1" lang="el" sz="2500"/>
              <a:t>1111|0000|1111|0000|1111|0000</a:t>
            </a:r>
            <a:endParaRPr b="1" sz="25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l" sz="2000"/>
              <a:t>Αν αρνητικός, μόνο το πρώτο τμήμα θεωρείται αρνητικός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Mod5</a:t>
            </a:r>
            <a:endParaRPr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2^n mod 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Mod5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Ανά 4 bits επανάληψη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Eίσοδο 32 Bits σε 8 κομμάτια των 4 Bit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2500"/>
              <a:t>0</a:t>
            </a:r>
            <a:r>
              <a:rPr b="1" lang="el" sz="2500"/>
              <a:t>100|0100|0100|0100|0100|0100|0100|0100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=</a:t>
            </a:r>
            <a:r>
              <a:rPr b="1" lang="el"/>
              <a:t>1145324612 με mod5 = 2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Μέγιστο υπόλοιπο ανά κομμάτι είναι 5-1=</a:t>
            </a:r>
            <a:r>
              <a:rPr b="1" lang="el"/>
              <a:t>4</a:t>
            </a:r>
            <a:r>
              <a:rPr lang="el"/>
              <a:t>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l"/>
              <a:t>4 * 8 κομμάτια = 32.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l"/>
              <a:t>Υπόλοιπο του </a:t>
            </a:r>
            <a:r>
              <a:rPr b="1" lang="el"/>
              <a:t>32 με mod5 = 2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Mod9</a:t>
            </a:r>
            <a:endParaRPr/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952500" y="117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2^n mod 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l"/>
              <a:t>Mod9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Ανά 6 bits επανάληψη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Eίσοδο 32 Bits πρέπει να μετατραπεί σε 36 Bits, 6 κομμάτια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 sz="2500"/>
              <a:t>111111|001000|001000|001000|001000|001000</a:t>
            </a:r>
            <a:endParaRPr b="1" sz="2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=</a:t>
            </a:r>
            <a:r>
              <a:rPr b="1" lang="el"/>
              <a:t>-937393656 με mod9 = 3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Μέγιστο υπόλοιπο ανά κομμάτι είναι 9-1=8 με το πρώτο -1+9=8.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6 * 8 κομμάτια = 48.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Υπόλοιπο του </a:t>
            </a:r>
            <a:r>
              <a:rPr b="1" lang="el"/>
              <a:t>48 με mod9 =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l" sz="2300"/>
              <a:t>Κινέζικο</a:t>
            </a:r>
            <a:r>
              <a:rPr lang="el" sz="2300"/>
              <a:t> Θεώρημα Υπολοίπων, παράδειγμα</a:t>
            </a:r>
            <a:endParaRPr sz="23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l" sz="2300"/>
              <a:t> 14 έχει παράγοντες το 2 και 7 πρώτοι αριθμοί</a:t>
            </a:r>
            <a:endParaRPr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2300"/>
              <a:t>  Χ = 14k + υπόλοιπο</a:t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l" sz="2300"/>
              <a:t> Αν γνωρίζουμε Χ όπου Xmod2 = 1 και </a:t>
            </a:r>
            <a:r>
              <a:rPr lang="el" sz="2300"/>
              <a:t>Χmod7 = 5.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l" sz="2300"/>
              <a:t> mod2 από 1,3,5,7,9,11,13 και mod7 ικανοποιείται από 5,12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l" sz="2300"/>
              <a:t> Xmod14=5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l"/>
              <a:t>Mod14</a:t>
            </a:r>
            <a:endParaRPr/>
          </a:p>
        </p:txBody>
      </p:sp>
      <p:graphicFrame>
        <p:nvGraphicFramePr>
          <p:cNvPr id="111" name="Google Shape;111;p22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2413000"/>
                <a:gridCol w="2413000"/>
                <a:gridCol w="2413000"/>
              </a:tblGrid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Mod14</a:t>
            </a:r>
            <a:endParaRPr/>
          </a:p>
        </p:txBody>
      </p:sp>
      <p:graphicFrame>
        <p:nvGraphicFramePr>
          <p:cNvPr id="117" name="Google Shape;117;p23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2413000"/>
                <a:gridCol w="2413000"/>
                <a:gridCol w="2413000"/>
              </a:tblGrid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Xmod7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Mod7</a:t>
            </a:r>
            <a:endParaRPr/>
          </a:p>
        </p:txBody>
      </p:sp>
      <p:graphicFrame>
        <p:nvGraphicFramePr>
          <p:cNvPr id="123" name="Google Shape;123;p24"/>
          <p:cNvGraphicFramePr/>
          <p:nvPr/>
        </p:nvGraphicFramePr>
        <p:xfrm>
          <a:off x="952500" y="117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2^n mod 7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Mod7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Ανά 3 bits επανάληψη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Eίσοδο 32 Bits πρέπει να μετατραπεί σε 33 Bits, 11 κομμάτια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2500"/>
              <a:t>111|110|110|110|110|110|110|110|110|110|110</a:t>
            </a:r>
            <a:endParaRPr b="1" sz="2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=</a:t>
            </a:r>
            <a:r>
              <a:rPr b="1" lang="el"/>
              <a:t>−153391690 με mod7 = 3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Μέγιστο υπόλοιπο ανά κομμάτι είναι 7-1=6 με το πρώτο -1+7=6.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6 * 11 κομμάτια = 66.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Υπόλοιπο του </a:t>
            </a:r>
            <a:r>
              <a:rPr b="1" lang="el"/>
              <a:t>66 με mod7 = 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Mod2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To Mod2 μπορεί να υπολογιστεί απλά κοιτώντας το τελευταίο bit ενός αριθμού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/>
              <a:t>πχ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/>
              <a:t>001101mod2 = 1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l"/>
              <a:t>101100mod2 = 0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Mod15</a:t>
            </a:r>
            <a:endParaRPr/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952500" y="117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{9368728D-DE20-414C-8D73-4AFBBA54FEEC}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/>
                        <a:t>2^n mod 15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6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/>
                        <a:t>4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Mod15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Ανά 4 bits επανάληψη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Eίσοδο 32 Bits, 8 κομμάτια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2500"/>
              <a:t>1111|1110|1110|1110|1110|1110|1110|1110</a:t>
            </a:r>
            <a:endParaRPr b="1" sz="2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=</a:t>
            </a:r>
            <a:r>
              <a:rPr b="1" lang="el"/>
              <a:t>−17895698 με mod15 = 7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Μέγιστο υπόλοιπο ανά κομμάτι είναι 15-1=14 με το πρώτο -1+15=14.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14 * 8 κομμάτια = 112.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/>
              <a:t>Υπόλοιπο του </a:t>
            </a:r>
            <a:r>
              <a:rPr b="1" lang="el"/>
              <a:t>112 με mod15 = 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l" sz="3500"/>
              <a:t>Κώδικας Mod5 και Σχεδιάγραμμα</a:t>
            </a:r>
            <a:endParaRPr b="1" sz="3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Comparator 5</a:t>
            </a:r>
            <a:endParaRPr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939450"/>
            <a:ext cx="57340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p31"/>
          <p:cNvGraphicFramePr/>
          <p:nvPr/>
        </p:nvGraphicFramePr>
        <p:xfrm>
          <a:off x="3117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{C617D166-0AD6-4EC1-8366-8101AFC4573F}</a:tableStyleId>
              </a:tblPr>
              <a:tblGrid>
                <a:gridCol w="8520600"/>
              </a:tblGrid>
              <a:tr h="441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library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ieee;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ieee.std_logic_1164.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ieee.numeric_std.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entity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comparator_of_5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generic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(n:integer:=4);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port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S: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std_logic_vector(n-1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downto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0);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negative: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std_logic;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above: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std_logic;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below: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std_logic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);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comparator_of_5;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architecture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dataflow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comparator_of_5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signal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above_below : std_logic_vector(1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downto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0);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begin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above_below &lt;=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"10"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(S(n-1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downto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3) /= std_logic_vector(to_unsigned(0, n-3))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negative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'0'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      (negative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'0'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S(2)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'1'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(S(1)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'1'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S(0)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'1'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"01"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(S(n-1)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'1'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negative =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'1'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</a:t>
                      </a:r>
                      <a:r>
                        <a:rPr lang="el" sz="1100">
                          <a:solidFill>
                            <a:srgbClr val="F1FA8C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"00"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above &lt;= above_below(1);            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below &lt;= above_below(0);   </a:t>
                      </a: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1" lang="el" sz="1100">
                          <a:solidFill>
                            <a:srgbClr val="8BE9FD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</a:t>
                      </a:r>
                      <a:r>
                        <a:rPr lang="el" sz="1100">
                          <a:solidFill>
                            <a:srgbClr val="F8F8F2"/>
                          </a:solidFill>
                          <a:highlight>
                            <a:srgbClr val="282A3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dataflow;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82A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υπολογισμού κρατουμένου</a:t>
            </a:r>
            <a:endParaRPr/>
          </a:p>
        </p:txBody>
      </p:sp>
      <p:pic>
        <p:nvPicPr>
          <p:cNvPr id="171" name="Google Shape;1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543300"/>
            <a:ext cx="5734050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data &lt;= (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others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(data_in = all_ones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data_in;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comparison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comp1: comparator_of_5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(data, negative_first, above1, below1);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arithmetic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add_above: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(data, mod5_comp,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temp1,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add_below: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(data, mod5,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temp2,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Intermediate mux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stage2_in &lt;= temp1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above1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temp2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below1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data;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45720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Second comparison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comp2: comparator_of_5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(stage2_in, negative_first, above2, below2);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Second arithmetic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add_above2: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(stage2_in, mod5_comp,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stage2_temp1,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add_below2: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(stage2_in, mod5,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stage2_temp2,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output selection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 &lt;= stage2_temp1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above2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stage2_temp2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below2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(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others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(data_in = all_ones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--for 15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stage2_in;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262063"/>
            <a:ext cx="57340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/>
          <p:cNvSpPr txBox="1"/>
          <p:nvPr/>
        </p:nvSpPr>
        <p:spPr>
          <a:xfrm>
            <a:off x="1970750" y="263550"/>
            <a:ext cx="49569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Mod 5 TestBench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adder_n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(n: integer := 4);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a, b: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(n: integer := 4);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negative: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above: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below: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remainder_calculator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(n: integer := 32);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data_in      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negative_first: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remainder    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45720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Module &lt;= std_logic_vector(to_signed(5, 4));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Module_Complement &lt;= std_logic_vector(to_signed(-5, 4));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 : adder_n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padded_32 &lt;= (31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S(n-1))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 &lt;= padded_32(31);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s_first &lt;= padded_32(31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28);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(4)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(s_first,negative,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s_in: std_logic_vector(3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s_in &lt;= padded_32(3+i*4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i*4);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(n=&gt;4)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(s_in,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remainders(i));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gen_stage1: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a_padded, b_padded : std_logic_vector(5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remainders(i*2+1);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adder_st1: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 =&gt; 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a_padded,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b_padded,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sum_stage1(i),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gen_stage1;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2: Add results from stage 1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gen_stage2: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sum_stage1(i*2),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sum_stage1(i*2+1),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sum_stage2(i),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gen_stage2;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4572000" y="254225"/>
            <a:ext cx="4260300" cy="43146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adder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adder_final: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sum_stage2(0),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sum_stage2(1),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sum_final,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step(0)&lt;=sum_final;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generate_remainder_out_of_sum: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(n=&gt;6)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(step(i),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step(i+1));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remainder &lt;= step(3)(3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125" y="1682450"/>
            <a:ext cx="8215750" cy="11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7"/>
          <p:cNvSpPr txBox="1"/>
          <p:nvPr/>
        </p:nvSpPr>
        <p:spPr>
          <a:xfrm>
            <a:off x="3258950" y="244875"/>
            <a:ext cx="4602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Τελικό Testbench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/>
              <a:t>Genus Modulo 5 Adder με Flip Flops</a:t>
            </a:r>
            <a:endParaRPr sz="1600"/>
          </a:p>
        </p:txBody>
      </p:sp>
      <p:pic>
        <p:nvPicPr>
          <p:cNvPr id="207" name="Google Shape;2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06997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l" sz="1600"/>
              <a:t>Genus Modulo 5 Adder με Flip Flops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01772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l" sz="3500"/>
              <a:t>Κώδικας Mod9 και Σχεδιάγραμμα</a:t>
            </a:r>
            <a:endParaRPr b="1" sz="3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Συγκριτή Mod9</a:t>
            </a:r>
            <a:endParaRPr/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650" y="2131400"/>
            <a:ext cx="573405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Συγκριτής Mod9</a:t>
            </a:r>
            <a:endParaRPr/>
          </a:p>
        </p:txBody>
      </p:sp>
      <p:sp>
        <p:nvSpPr>
          <p:cNvPr id="230" name="Google Shape;230;p42"/>
          <p:cNvSpPr txBox="1"/>
          <p:nvPr/>
        </p:nvSpPr>
        <p:spPr>
          <a:xfrm>
            <a:off x="337150" y="1271725"/>
            <a:ext cx="4234800" cy="329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library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ieee.std_logic_1164.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comparator_of_9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(n:integer:=6);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above: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below: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comparator_of_9;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42"/>
          <p:cNvSpPr txBox="1"/>
          <p:nvPr/>
        </p:nvSpPr>
        <p:spPr>
          <a:xfrm>
            <a:off x="4572000" y="1271725"/>
            <a:ext cx="4260300" cy="327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comparator_of_9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above_below : std_logic_vector(1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above_below&lt;=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((S(5)=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S(4)=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(negative=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S(3)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(S(2)=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(S(n-1)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 &lt;= above_below(1);        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below &lt;= above_below(0);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Κρατούμενου Mod9</a:t>
            </a:r>
            <a:endParaRPr/>
          </a:p>
        </p:txBody>
      </p:sp>
      <p:pic>
        <p:nvPicPr>
          <p:cNvPr id="237" name="Google Shape;2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290075"/>
            <a:ext cx="5734051" cy="10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Κρατουμένου mod9</a:t>
            </a:r>
            <a:endParaRPr/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mod9 &lt;= std_logic_vector(to_signed(9, 6));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mod9_comp &lt;= std_logic_vector(to_signed(-9, 6));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data(0)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(data_in 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"111111"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--check for last one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data_in;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above_i, below_i: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temp1_i, temp2_i:std_logic_vector(5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comparison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comp_i: comparator_of_9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negative_first, above_i, below_i);</a:t>
            </a:r>
            <a:endParaRPr/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arithmetic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add_above_i: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mod9_comp,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temp1_i,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add_below_i: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mod9,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temp2_i,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Intermediate mux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data(i+1) &lt;= temp1_i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temp2_i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below_i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data(i);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output selection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 &lt;= data(6);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Mod9</a:t>
            </a:r>
            <a:endParaRPr/>
          </a:p>
        </p:txBody>
      </p:sp>
      <p:pic>
        <p:nvPicPr>
          <p:cNvPr id="250" name="Google Shape;2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767325"/>
            <a:ext cx="573405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311700" y="183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mod9</a:t>
            </a:r>
            <a:endParaRPr/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311700" y="756475"/>
            <a:ext cx="4260300" cy="3812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Module &lt;= std_logic_vector(to_signed(9, 6));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Module_Complement &lt;= std_logic_vector(to_signed(-9, 6));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 : adder_n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padded_36 &lt;= (35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S(n-1))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 &lt;= padded_36(35);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s_first &lt;= padded_36(35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30);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remainder_calculator_9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(s_first,negative,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remainders(5));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4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s_in: std_logic_vector(5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s_in &lt;= padded_36(5+i*6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i*6);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remainder_calculator_9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(s_in,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remainders(i));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46"/>
          <p:cNvSpPr txBox="1"/>
          <p:nvPr>
            <p:ph idx="1" type="body"/>
          </p:nvPr>
        </p:nvSpPr>
        <p:spPr>
          <a:xfrm>
            <a:off x="4572000" y="756350"/>
            <a:ext cx="4260300" cy="3812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Adder tree to sum all remainders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1: Add pairs of remainders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gen_stage1: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adder_st1: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remainders(i*2),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remainders(i*2+1),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sum_stage1(i),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gen_stage1;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2: Add results from stage 1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sum_stage1(0),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sum_stage1(1),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sum_stage2(0),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adder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adder_final: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sum_stage1(2),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sum_stage2(0),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sum_final,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remainder_sum : remainder_calculator_9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(6)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(sum_final,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/>
        </p:nvSpPr>
        <p:spPr>
          <a:xfrm>
            <a:off x="3258950" y="244875"/>
            <a:ext cx="4602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Τελικό Testbench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3" name="Google Shape;2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00" y="1767350"/>
            <a:ext cx="8703800" cy="1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l" sz="1600"/>
              <a:t>Genus Modulo 9 Adder με Flip Flops</a:t>
            </a:r>
            <a:endParaRPr sz="1600"/>
          </a:p>
        </p:txBody>
      </p:sp>
      <p:pic>
        <p:nvPicPr>
          <p:cNvPr id="269" name="Google Shape;26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650" y="110457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l" sz="1600"/>
              <a:t>Genus Modulo 9 Adder με Flip Flops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950" y="101772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l" sz="3500"/>
              <a:t>Κώδικας Mod14 (Mod7) και Σχεδιάγραμμα</a:t>
            </a:r>
            <a:endParaRPr b="1" sz="35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>
            <p:ph type="title"/>
          </p:nvPr>
        </p:nvSpPr>
        <p:spPr>
          <a:xfrm>
            <a:off x="190325" y="164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Συγκριτής Mod7</a:t>
            </a:r>
            <a:endParaRPr/>
          </a:p>
        </p:txBody>
      </p:sp>
      <p:sp>
        <p:nvSpPr>
          <p:cNvPr id="286" name="Google Shape;286;p51"/>
          <p:cNvSpPr txBox="1"/>
          <p:nvPr/>
        </p:nvSpPr>
        <p:spPr>
          <a:xfrm>
            <a:off x="337150" y="892075"/>
            <a:ext cx="3547200" cy="405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library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ieee.std_logic_1164.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ieee.numeric_std.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comparator_of_7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(n: integer := 3);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above: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below: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comparator_of_7;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287" name="Google Shape;287;p51"/>
          <p:cNvSpPr txBox="1"/>
          <p:nvPr/>
        </p:nvSpPr>
        <p:spPr>
          <a:xfrm>
            <a:off x="3828600" y="892075"/>
            <a:ext cx="5003700" cy="405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comparator_of_7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above_below: std_logic_vector(1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S_padded : 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always 7 bits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S_padded &lt;=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above_below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(S_padded(6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3) /=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(negative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S(2)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(S(n-1)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 &lt;= above_below(1);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below &lt;= above_below(0);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Κρατουμένου mod7</a:t>
            </a:r>
            <a:endParaRPr/>
          </a:p>
        </p:txBody>
      </p:sp>
      <p:sp>
        <p:nvSpPr>
          <p:cNvPr id="293" name="Google Shape;293;p5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mod7 &lt;= std_logic_vector(to_signed(7, 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mod7_comp &lt;= std_logic_vector(to_signed(-7, 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data(0) &lt;= (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others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(data_in = all_ones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data_in(n-1)) &amp; data_in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&amp; data_in;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9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above_i, below_i: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temp1_i, temp2_i:std_logic_vector(6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comparison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comp_i: comparator_of_7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negative_first, above_i, below_i);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52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arithmetic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add_above_i: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mod7_comp,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temp1_i,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add_below_i: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mod7,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temp2_i,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Intermediate mux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data(i+1) &lt;= temp1_i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temp2_i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below_i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data(i);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output selection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remainder&lt;=data(10)(n-1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Mod7</a:t>
            </a:r>
            <a:endParaRPr/>
          </a:p>
        </p:txBody>
      </p:sp>
      <p:pic>
        <p:nvPicPr>
          <p:cNvPr id="300" name="Google Shape;30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366838"/>
            <a:ext cx="573405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title"/>
          </p:nvPr>
        </p:nvSpPr>
        <p:spPr>
          <a:xfrm>
            <a:off x="3583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mod7</a:t>
            </a:r>
            <a:endParaRPr/>
          </a:p>
        </p:txBody>
      </p:sp>
      <p:sp>
        <p:nvSpPr>
          <p:cNvPr id="306" name="Google Shape;306;p54"/>
          <p:cNvSpPr txBox="1"/>
          <p:nvPr>
            <p:ph idx="1" type="body"/>
          </p:nvPr>
        </p:nvSpPr>
        <p:spPr>
          <a:xfrm>
            <a:off x="311700" y="48760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 : adder_n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padded_33 &lt;= (32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S(n-1))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 &lt;= padded_33(32);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s_first &lt;= padded_33(32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30);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remainder_calculator_7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(3)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(s_first,negative,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remainders(10));</a:t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9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s_in: std_logic_vector(2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s_in &lt;= padded_33(2+i*3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i*3);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remainder_calculator_7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(3)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(s_in,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remainders(i));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gen_stage1: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4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a_padded, b_padded : 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remainders(i*2+1);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adder_st1: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a_padded,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b_padded,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sum_stage1(i),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gen_stage1;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sum_stage1(5)&lt;=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&amp;remainders(10);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54"/>
          <p:cNvSpPr txBox="1"/>
          <p:nvPr>
            <p:ph idx="1" type="body"/>
          </p:nvPr>
        </p:nvSpPr>
        <p:spPr>
          <a:xfrm>
            <a:off x="4572000" y="48755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2: Add results from stage 1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gen_stage2: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2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sum_stage1(i*2),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sum_stage1(i*2+1),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sum_stage2(i),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gen_stage2;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Pre Final adder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adder_prefinal: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sum_stage2(0),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sum_stage2(1),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sum_final_temp,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adder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adder_final: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sum_stage2(2),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sum_final_temp,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sum_final,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remainder_sum : remainder_calculator_7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(sum_final,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sum_remain);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 &lt;= sum_remain(3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 txBox="1"/>
          <p:nvPr>
            <p:ph type="title"/>
          </p:nvPr>
        </p:nvSpPr>
        <p:spPr>
          <a:xfrm>
            <a:off x="3583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mod14</a:t>
            </a:r>
            <a:endParaRPr/>
          </a:p>
        </p:txBody>
      </p:sp>
      <p:sp>
        <p:nvSpPr>
          <p:cNvPr id="313" name="Google Shape;313;p55"/>
          <p:cNvSpPr txBox="1"/>
          <p:nvPr>
            <p:ph idx="1" type="body"/>
          </p:nvPr>
        </p:nvSpPr>
        <p:spPr>
          <a:xfrm>
            <a:off x="311700" y="48760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adder 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mod7_module: mod7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mod7_remainder);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remainder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0)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-- 0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1)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-- 8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2)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-- 2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3)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-- 10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4)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-- 4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"1100"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5)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-- 12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6)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-- 6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55"/>
          <p:cNvSpPr txBox="1"/>
          <p:nvPr>
            <p:ph idx="1" type="body"/>
          </p:nvPr>
        </p:nvSpPr>
        <p:spPr>
          <a:xfrm>
            <a:off x="4572000" y="48755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"0111"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0)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-- 7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1)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-- 1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2)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-- 9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"0011"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3)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-- 3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"1011"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unsigned(mod7_remainder) = 4)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-- 11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5)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-- 5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"1101"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unsigned(mod7_remainder) = 6)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-- 13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"1111"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default fallback (error or undefined)</a:t>
            </a: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/>
        </p:nvSpPr>
        <p:spPr>
          <a:xfrm>
            <a:off x="3258950" y="244875"/>
            <a:ext cx="4602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Τελικό Testbench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0" name="Google Shape;3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50" y="1739276"/>
            <a:ext cx="8707475" cy="11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l" sz="1600"/>
              <a:t>Genus Modulo 14 Adder με Flip Flops</a:t>
            </a:r>
            <a:endParaRPr sz="1600"/>
          </a:p>
        </p:txBody>
      </p:sp>
      <p:pic>
        <p:nvPicPr>
          <p:cNvPr id="326" name="Google Shape;3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5975" y="101772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l" sz="1600"/>
              <a:t>Genus Modulo 14 Adder με Flip Flops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017725"/>
            <a:ext cx="57340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l" sz="3500"/>
              <a:t>Κώδικας Mod15 και Σχεδιάγραμμα</a:t>
            </a:r>
            <a:endParaRPr b="1" sz="3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Comparator 15</a:t>
            </a:r>
            <a:endParaRPr/>
          </a:p>
        </p:txBody>
      </p:sp>
      <p:pic>
        <p:nvPicPr>
          <p:cNvPr id="343" name="Google Shape;34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944700"/>
            <a:ext cx="573405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 txBox="1"/>
          <p:nvPr>
            <p:ph type="title"/>
          </p:nvPr>
        </p:nvSpPr>
        <p:spPr>
          <a:xfrm>
            <a:off x="190325" y="164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Συγκριτής Mod15</a:t>
            </a:r>
            <a:endParaRPr/>
          </a:p>
        </p:txBody>
      </p:sp>
      <p:sp>
        <p:nvSpPr>
          <p:cNvPr id="349" name="Google Shape;349;p61"/>
          <p:cNvSpPr txBox="1"/>
          <p:nvPr/>
        </p:nvSpPr>
        <p:spPr>
          <a:xfrm>
            <a:off x="337150" y="737675"/>
            <a:ext cx="4116600" cy="420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library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ieee.std_logic_1164.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use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ieee.numeric_std.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entity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comparator_of_15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(n: integer := 7);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std_logic_vector(n-1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above: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below: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std_logic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comparator_of_15;</a:t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comparator_of_15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test: std_logic_vector(3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-- 4 bits (but we only compare 3)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above_below: std_logic_vector(1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S_padded : 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always 7 bits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350" name="Google Shape;350;p61"/>
          <p:cNvSpPr txBox="1"/>
          <p:nvPr/>
        </p:nvSpPr>
        <p:spPr>
          <a:xfrm>
            <a:off x="4453750" y="737575"/>
            <a:ext cx="4378500" cy="405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S_padded &lt;=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test &lt;= std_logic_vector(to_unsigned(0, 4));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"0000"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above_below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"10"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    (S_padded(6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4) /=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    (negative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S(3)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S(2)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S(0)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"01"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(S(n-1)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above &lt;= above_below(1);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below &lt;= above_below(0);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Κρατούμενο</a:t>
            </a:r>
            <a:endParaRPr/>
          </a:p>
        </p:txBody>
      </p:sp>
      <p:pic>
        <p:nvPicPr>
          <p:cNvPr id="356" name="Google Shape;35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675" y="1871663"/>
            <a:ext cx="57340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Κρατουμένου mod15</a:t>
            </a:r>
            <a:endParaRPr/>
          </a:p>
        </p:txBody>
      </p:sp>
      <p:sp>
        <p:nvSpPr>
          <p:cNvPr id="362" name="Google Shape;362;p6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mod15 &lt;= std_logic_vector(to_signed(15, 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mod15_comp &lt;= std_logic_vector(to_signed(-15, 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data(0) &lt;= (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others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(data_in = all_ones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data_in(n-1)) &amp; data_in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negative_first =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 &amp; data_in;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so that for 15 when mod15_comp can't be actually used for 4 bits so i bypass it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for 7 bits 1111111 in the adding remainders stage, its impossible as max 14*8=112=1110000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7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above_i, below_i: std_logic;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temp1_i, temp2_i:std_logic_vector(6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comparison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comp_i: comparator_of_15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negative_first, above_i, below_i);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63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First arithmetic stage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add_above_i: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mod15_comp,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temp1_i,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add_below_i: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(data(i), mod15,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temp2_i,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Intermediate mux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data(i+1) &lt;= temp1_i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above_i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temp2_i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below_i 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'1'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 data(i);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output selection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remainder&lt;=data(8)(n-1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architecture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Testbench Mod15</a:t>
            </a:r>
            <a:endParaRPr/>
          </a:p>
        </p:txBody>
      </p:sp>
      <p:pic>
        <p:nvPicPr>
          <p:cNvPr id="369" name="Google Shape;36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404938"/>
            <a:ext cx="57340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5"/>
          <p:cNvSpPr txBox="1"/>
          <p:nvPr>
            <p:ph type="title"/>
          </p:nvPr>
        </p:nvSpPr>
        <p:spPr>
          <a:xfrm>
            <a:off x="3583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mod15</a:t>
            </a:r>
            <a:endParaRPr/>
          </a:p>
        </p:txBody>
      </p:sp>
      <p:sp>
        <p:nvSpPr>
          <p:cNvPr id="375" name="Google Shape;375;p65"/>
          <p:cNvSpPr txBox="1"/>
          <p:nvPr>
            <p:ph idx="1" type="body"/>
          </p:nvPr>
        </p:nvSpPr>
        <p:spPr>
          <a:xfrm>
            <a:off x="311700" y="48760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 : adder_n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(n)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(A, B,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 S,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padded_32 &lt;= (31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n =&gt; S(n-1)) &amp; S;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negative &lt;= padded_32(31);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s_first &lt;= padded_32(31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28);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remainder_calculator_15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(4)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(s_first,negative,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remainders(7));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generate_label: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s_in: std_logic_vector(3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s_in &lt;= padded_32(3+i*4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i*4);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remainder_c : remainder_calculator_15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(4)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(s_in,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remainders(i));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p65"/>
          <p:cNvSpPr txBox="1"/>
          <p:nvPr>
            <p:ph idx="1" type="body"/>
          </p:nvPr>
        </p:nvSpPr>
        <p:spPr>
          <a:xfrm>
            <a:off x="4572000" y="487550"/>
            <a:ext cx="4260300" cy="44433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Adder tree to sum all remainders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1: Add pairs of remainders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gen_stage1: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a_padded, b_padded : std_logic_vector(6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begin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b_padded &lt;=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"000"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&amp; remainders(i*2+1);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adder_st1: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a_padded,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b_padded,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sum_stage1(i),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gen_stage1;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Stage 2: Add results from stage 1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gen_stage2: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adder_st2: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a =&gt; sum_stage1(i*2),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b =&gt; sum_stage1(i*2+1),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sum =&gt; sum_stage2(i),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generate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gen_stage2;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l" sz="1100">
                <a:solidFill>
                  <a:srgbClr val="6272A4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-- Final adder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adder_final: adder_n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a =&gt; sum_stage2(0),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b =&gt; sum_stage2(1),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cin =&gt; 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sum =&gt; sum_final,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    cout =&gt;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    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remainder_sum : remainder_calculator_15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generic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(7)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(sum_final,</a:t>
            </a:r>
            <a:r>
              <a:rPr lang="el" sz="11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'0'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sum_remain);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remainder &lt;= sum_remain(3 </a:t>
            </a: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downto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0);</a:t>
            </a: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el" sz="1100">
                <a:solidFill>
                  <a:srgbClr val="8BE9F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l" sz="11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dataflow;</a:t>
            </a:r>
            <a:endParaRPr b="1" sz="1100">
              <a:solidFill>
                <a:srgbClr val="8BE9F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6"/>
          <p:cNvSpPr txBox="1"/>
          <p:nvPr/>
        </p:nvSpPr>
        <p:spPr>
          <a:xfrm>
            <a:off x="3258950" y="244875"/>
            <a:ext cx="4602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Τελικό Testbench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82" name="Google Shape;38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50" y="1640150"/>
            <a:ext cx="8072700" cy="11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l" sz="1600"/>
              <a:t>Genus Modulo 15 Adder με Flip Flops</a:t>
            </a:r>
            <a:endParaRPr sz="1600"/>
          </a:p>
        </p:txBody>
      </p:sp>
      <p:pic>
        <p:nvPicPr>
          <p:cNvPr id="388" name="Google Shape;38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475" y="1017725"/>
            <a:ext cx="4467800" cy="35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l" sz="1600"/>
              <a:t>Genus Modulo 15 Adder με Flip Flops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500" y="1017725"/>
            <a:ext cx="4339126" cy="34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